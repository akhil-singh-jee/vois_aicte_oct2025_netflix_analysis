
<file path=[Content_Types].xml><?xml version="1.0" encoding="utf-8"?>
<Types xmlns="http://schemas.openxmlformats.org/package/2006/content-types">
  <Default Extension="jfif"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omments/comment1.xml" ContentType="application/vnd.openxmlformats-officedocument.presentationml.comments+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18" r:id="rId4"/>
  </p:sldMasterIdLst>
  <p:notesMasterIdLst>
    <p:notesMasterId r:id="rId18"/>
  </p:notesMasterIdLst>
  <p:handoutMasterIdLst>
    <p:handoutMasterId r:id="rId19"/>
  </p:handoutMasterIdLst>
  <p:sldIdLst>
    <p:sldId id="338" r:id="rId5"/>
    <p:sldId id="327" r:id="rId6"/>
    <p:sldId id="315" r:id="rId7"/>
    <p:sldId id="329" r:id="rId8"/>
    <p:sldId id="302" r:id="rId9"/>
    <p:sldId id="339" r:id="rId10"/>
    <p:sldId id="340" r:id="rId11"/>
    <p:sldId id="341" r:id="rId12"/>
    <p:sldId id="345" r:id="rId13"/>
    <p:sldId id="344" r:id="rId14"/>
    <p:sldId id="342" r:id="rId15"/>
    <p:sldId id="343" r:id="rId16"/>
    <p:sldId id="304"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KHIL SINGH" initials="AS" lastIdx="1" clrIdx="0">
    <p:extLst>
      <p:ext uri="{19B8F6BF-5375-455C-9EA6-DF929625EA0E}">
        <p15:presenceInfo xmlns:p15="http://schemas.microsoft.com/office/powerpoint/2012/main" userId="e0fba9a5d7a29cec"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1109B11-726B-622E-F1D0-53498C852A02}" v="122" dt="2025-09-25T09:02:38.153"/>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405" autoAdjust="0"/>
    <p:restoredTop sz="95033" autoAdjust="0"/>
  </p:normalViewPr>
  <p:slideViewPr>
    <p:cSldViewPr snapToGrid="0">
      <p:cViewPr varScale="1">
        <p:scale>
          <a:sx n="113" d="100"/>
          <a:sy n="113" d="100"/>
        </p:scale>
        <p:origin x="432" y="114"/>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5-10-03T02:22:42.725" idx="1">
    <p:pos x="4347" y="1360"/>
    <p:text/>
    <p:extLst>
      <p:ext uri="{C676402C-5697-4E1C-873F-D02D1690AC5C}">
        <p15:threadingInfo xmlns:p15="http://schemas.microsoft.com/office/powerpoint/2012/main" timeZoneBias="-330"/>
      </p:ext>
    </p:extLst>
  </p:cm>
</p: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10/18/2025</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10/18/2025</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CC7D8D-A21F-AF68-DFB9-83C1A333718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CC28E67-D837-F97D-EC92-4BE34AF58CD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7AA3D4D-C586-2219-9A4F-329DEED66A14}"/>
              </a:ext>
            </a:extLst>
          </p:cNvPr>
          <p:cNvSpPr>
            <a:spLocks noGrp="1"/>
          </p:cNvSpPr>
          <p:nvPr>
            <p:ph type="dt" sz="half" idx="10"/>
          </p:nvPr>
        </p:nvSpPr>
        <p:spPr/>
        <p:txBody>
          <a:bodyPr/>
          <a:lstStyle/>
          <a:p>
            <a:fld id="{B61BEF0D-F0BB-DE4B-95CE-6DB70DBA9567}" type="datetimeFigureOut">
              <a:rPr lang="en-US" smtClean="0"/>
              <a:pPr/>
              <a:t>10/18/2025</a:t>
            </a:fld>
            <a:endParaRPr lang="en-US" dirty="0"/>
          </a:p>
        </p:txBody>
      </p:sp>
      <p:sp>
        <p:nvSpPr>
          <p:cNvPr id="5" name="Footer Placeholder 4">
            <a:extLst>
              <a:ext uri="{FF2B5EF4-FFF2-40B4-BE49-F238E27FC236}">
                <a16:creationId xmlns:a16="http://schemas.microsoft.com/office/drawing/2014/main" id="{415E9349-0A6A-D5D2-14CF-16ACCE37112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D5DAD22-773E-D242-CF76-225A08A1EA85}"/>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083794238"/>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49FEAE-DDB8-065B-CAFB-4F715C46827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B6E820-F30D-E08C-7A5D-CF407DDA119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D5888D-94FF-AB3F-A647-B0FAD4716259}"/>
              </a:ext>
            </a:extLst>
          </p:cNvPr>
          <p:cNvSpPr>
            <a:spLocks noGrp="1"/>
          </p:cNvSpPr>
          <p:nvPr>
            <p:ph type="dt" sz="half" idx="10"/>
          </p:nvPr>
        </p:nvSpPr>
        <p:spPr/>
        <p:txBody>
          <a:bodyPr/>
          <a:lstStyle/>
          <a:p>
            <a:fld id="{B61BEF0D-F0BB-DE4B-95CE-6DB70DBA9567}" type="datetimeFigureOut">
              <a:rPr lang="en-US" smtClean="0"/>
              <a:pPr/>
              <a:t>10/18/2025</a:t>
            </a:fld>
            <a:endParaRPr lang="en-US" dirty="0"/>
          </a:p>
        </p:txBody>
      </p:sp>
      <p:sp>
        <p:nvSpPr>
          <p:cNvPr id="5" name="Footer Placeholder 4">
            <a:extLst>
              <a:ext uri="{FF2B5EF4-FFF2-40B4-BE49-F238E27FC236}">
                <a16:creationId xmlns:a16="http://schemas.microsoft.com/office/drawing/2014/main" id="{46789CE3-6E03-D301-901A-D46BDDDBB76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CA4AF81-C60B-DE3D-263F-64768956D6E3}"/>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32059271"/>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8C0F6E-545E-FFF0-AB8C-FEDD2DB4FE4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21B2134-77E0-C50C-C288-3867F9A0863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B5EECDC-02CB-8E1D-309E-B9009A82A79A}"/>
              </a:ext>
            </a:extLst>
          </p:cNvPr>
          <p:cNvSpPr>
            <a:spLocks noGrp="1"/>
          </p:cNvSpPr>
          <p:nvPr>
            <p:ph type="dt" sz="half" idx="10"/>
          </p:nvPr>
        </p:nvSpPr>
        <p:spPr/>
        <p:txBody>
          <a:bodyPr/>
          <a:lstStyle/>
          <a:p>
            <a:fld id="{B61BEF0D-F0BB-DE4B-95CE-6DB70DBA9567}" type="datetimeFigureOut">
              <a:rPr lang="en-US" smtClean="0"/>
              <a:pPr/>
              <a:t>10/18/2025</a:t>
            </a:fld>
            <a:endParaRPr lang="en-US" dirty="0"/>
          </a:p>
        </p:txBody>
      </p:sp>
      <p:sp>
        <p:nvSpPr>
          <p:cNvPr id="5" name="Footer Placeholder 4">
            <a:extLst>
              <a:ext uri="{FF2B5EF4-FFF2-40B4-BE49-F238E27FC236}">
                <a16:creationId xmlns:a16="http://schemas.microsoft.com/office/drawing/2014/main" id="{27956132-2979-2386-075C-E7CD7516052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13616EE2-C822-C7B8-4C99-90A9B98FA2B3}"/>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76480370"/>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6C28E-68A8-23E7-7A90-DB392215CC9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A09931B-A2A0-9C49-1A87-6B0EE905F71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4B9E27A-2C7D-9F73-F5BC-B25D580DCFD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D94526C-07BB-56F7-8989-5B637C23FA10}"/>
              </a:ext>
            </a:extLst>
          </p:cNvPr>
          <p:cNvSpPr>
            <a:spLocks noGrp="1"/>
          </p:cNvSpPr>
          <p:nvPr>
            <p:ph type="dt" sz="half" idx="10"/>
          </p:nvPr>
        </p:nvSpPr>
        <p:spPr/>
        <p:txBody>
          <a:bodyPr/>
          <a:lstStyle/>
          <a:p>
            <a:fld id="{EB712588-04B1-427B-82EE-E8DB90309F08}" type="datetimeFigureOut">
              <a:rPr lang="en-US" smtClean="0"/>
              <a:t>10/18/2025</a:t>
            </a:fld>
            <a:endParaRPr lang="en-US" dirty="0"/>
          </a:p>
        </p:txBody>
      </p:sp>
      <p:sp>
        <p:nvSpPr>
          <p:cNvPr id="6" name="Footer Placeholder 5">
            <a:extLst>
              <a:ext uri="{FF2B5EF4-FFF2-40B4-BE49-F238E27FC236}">
                <a16:creationId xmlns:a16="http://schemas.microsoft.com/office/drawing/2014/main" id="{2E5C98AC-09AA-9715-9166-B41791823098}"/>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09ECAFB8-D25A-AC42-2925-40F4289AE2C5}"/>
              </a:ext>
            </a:extLst>
          </p:cNvPr>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122430661"/>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2AB551-F95F-3140-7D20-444FD013903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312DA72-A5C9-28F2-8567-5FB5AD99566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EC7E634-DF8B-E680-338F-3B700EE5841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731C818-D626-C773-2732-462171FEDA4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A029BEA-3743-3D5B-4901-53347A0BEA3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5F49230-63EA-5687-5742-5130F5B85BA4}"/>
              </a:ext>
            </a:extLst>
          </p:cNvPr>
          <p:cNvSpPr>
            <a:spLocks noGrp="1"/>
          </p:cNvSpPr>
          <p:nvPr>
            <p:ph type="dt" sz="half" idx="10"/>
          </p:nvPr>
        </p:nvSpPr>
        <p:spPr/>
        <p:txBody>
          <a:bodyPr/>
          <a:lstStyle/>
          <a:p>
            <a:fld id="{B61BEF0D-F0BB-DE4B-95CE-6DB70DBA9567}" type="datetimeFigureOut">
              <a:rPr lang="en-US" smtClean="0"/>
              <a:pPr/>
              <a:t>10/18/2025</a:t>
            </a:fld>
            <a:endParaRPr lang="en-US" dirty="0"/>
          </a:p>
        </p:txBody>
      </p:sp>
      <p:sp>
        <p:nvSpPr>
          <p:cNvPr id="8" name="Footer Placeholder 7">
            <a:extLst>
              <a:ext uri="{FF2B5EF4-FFF2-40B4-BE49-F238E27FC236}">
                <a16:creationId xmlns:a16="http://schemas.microsoft.com/office/drawing/2014/main" id="{D935D1F8-54BC-F120-31FB-B89B2247A7D0}"/>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7445897B-2E4B-A824-3397-8E8051746F46}"/>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01845963"/>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51973-1E1C-A3DF-9C69-3FE89EDA3AD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CACFE13-05E9-6B6A-E7B2-ECBC94421DD0}"/>
              </a:ext>
            </a:extLst>
          </p:cNvPr>
          <p:cNvSpPr>
            <a:spLocks noGrp="1"/>
          </p:cNvSpPr>
          <p:nvPr>
            <p:ph type="dt" sz="half" idx="10"/>
          </p:nvPr>
        </p:nvSpPr>
        <p:spPr/>
        <p:txBody>
          <a:bodyPr/>
          <a:lstStyle/>
          <a:p>
            <a:fld id="{B61BEF0D-F0BB-DE4B-95CE-6DB70DBA9567}" type="datetimeFigureOut">
              <a:rPr lang="en-US" smtClean="0"/>
              <a:pPr/>
              <a:t>10/18/2025</a:t>
            </a:fld>
            <a:endParaRPr lang="en-US" dirty="0"/>
          </a:p>
        </p:txBody>
      </p:sp>
      <p:sp>
        <p:nvSpPr>
          <p:cNvPr id="4" name="Footer Placeholder 3">
            <a:extLst>
              <a:ext uri="{FF2B5EF4-FFF2-40B4-BE49-F238E27FC236}">
                <a16:creationId xmlns:a16="http://schemas.microsoft.com/office/drawing/2014/main" id="{EC1B7CBB-A5E1-88AA-0E08-1784F5552B7D}"/>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9352383-42E3-1C6C-CCDD-D8B5AC7D0C8A}"/>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424617476"/>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0C05D39-0342-E4A2-512B-BCCDDF530469}"/>
              </a:ext>
            </a:extLst>
          </p:cNvPr>
          <p:cNvSpPr>
            <a:spLocks noGrp="1"/>
          </p:cNvSpPr>
          <p:nvPr>
            <p:ph type="dt" sz="half" idx="10"/>
          </p:nvPr>
        </p:nvSpPr>
        <p:spPr/>
        <p:txBody>
          <a:bodyPr/>
          <a:lstStyle/>
          <a:p>
            <a:fld id="{B61BEF0D-F0BB-DE4B-95CE-6DB70DBA9567}" type="datetimeFigureOut">
              <a:rPr lang="en-US" smtClean="0"/>
              <a:pPr/>
              <a:t>10/18/2025</a:t>
            </a:fld>
            <a:endParaRPr lang="en-US" dirty="0"/>
          </a:p>
        </p:txBody>
      </p:sp>
      <p:sp>
        <p:nvSpPr>
          <p:cNvPr id="3" name="Footer Placeholder 2">
            <a:extLst>
              <a:ext uri="{FF2B5EF4-FFF2-40B4-BE49-F238E27FC236}">
                <a16:creationId xmlns:a16="http://schemas.microsoft.com/office/drawing/2014/main" id="{0C07E388-4359-757F-A02D-E4E4DDE2B3C7}"/>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16530272-E8EF-CAAC-F25D-B15D65799801}"/>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537732737"/>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193F0C-A7ED-B181-B293-D3DD9F9F4B2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DC06C47-8F1A-C5DB-D48D-00839691689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F2FA912-EC22-0A52-7829-B601259F914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1FE020-7D58-F28A-8268-2B9BF81E20C2}"/>
              </a:ext>
            </a:extLst>
          </p:cNvPr>
          <p:cNvSpPr>
            <a:spLocks noGrp="1"/>
          </p:cNvSpPr>
          <p:nvPr>
            <p:ph type="dt" sz="half" idx="10"/>
          </p:nvPr>
        </p:nvSpPr>
        <p:spPr/>
        <p:txBody>
          <a:bodyPr/>
          <a:lstStyle/>
          <a:p>
            <a:fld id="{42A54C80-263E-416B-A8E0-580EDEADCBDC}" type="datetimeFigureOut">
              <a:rPr lang="en-US" smtClean="0"/>
              <a:t>10/18/2025</a:t>
            </a:fld>
            <a:endParaRPr lang="en-US" dirty="0"/>
          </a:p>
        </p:txBody>
      </p:sp>
      <p:sp>
        <p:nvSpPr>
          <p:cNvPr id="6" name="Footer Placeholder 5">
            <a:extLst>
              <a:ext uri="{FF2B5EF4-FFF2-40B4-BE49-F238E27FC236}">
                <a16:creationId xmlns:a16="http://schemas.microsoft.com/office/drawing/2014/main" id="{D95F5AAC-E4A1-064A-FA2F-05CD722245F8}"/>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6B15F8B0-B7F3-577A-6FD0-B431AE49C7AF}"/>
              </a:ext>
            </a:extLst>
          </p:cNvPr>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22652432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58D526-9F18-68D8-1959-B05C04C75C0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0E87499-469D-512E-29F0-28510819FC3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03FA5D4-FC13-4005-14B8-A2323AA67D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0799A53-2167-F3A9-2870-E19C20FBCA1D}"/>
              </a:ext>
            </a:extLst>
          </p:cNvPr>
          <p:cNvSpPr>
            <a:spLocks noGrp="1"/>
          </p:cNvSpPr>
          <p:nvPr>
            <p:ph type="dt" sz="half" idx="10"/>
          </p:nvPr>
        </p:nvSpPr>
        <p:spPr/>
        <p:txBody>
          <a:bodyPr/>
          <a:lstStyle/>
          <a:p>
            <a:fld id="{B61BEF0D-F0BB-DE4B-95CE-6DB70DBA9567}" type="datetimeFigureOut">
              <a:rPr lang="en-US" smtClean="0"/>
              <a:pPr/>
              <a:t>10/18/2025</a:t>
            </a:fld>
            <a:endParaRPr lang="en-US" dirty="0"/>
          </a:p>
        </p:txBody>
      </p:sp>
      <p:sp>
        <p:nvSpPr>
          <p:cNvPr id="6" name="Footer Placeholder 5">
            <a:extLst>
              <a:ext uri="{FF2B5EF4-FFF2-40B4-BE49-F238E27FC236}">
                <a16:creationId xmlns:a16="http://schemas.microsoft.com/office/drawing/2014/main" id="{60470BA9-FB61-FA71-37DD-ECCD056C7A50}"/>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8771D1D-E3D2-9D7E-EBD1-0B19422A5F41}"/>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77153070"/>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3965B-FE1C-C49C-D1AC-DFD835B1262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64638D0-5084-555F-B583-FD3D86A648A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AAF9686-5053-3FFE-1438-B54281D4769E}"/>
              </a:ext>
            </a:extLst>
          </p:cNvPr>
          <p:cNvSpPr>
            <a:spLocks noGrp="1"/>
          </p:cNvSpPr>
          <p:nvPr>
            <p:ph type="dt" sz="half" idx="10"/>
          </p:nvPr>
        </p:nvSpPr>
        <p:spPr/>
        <p:txBody>
          <a:bodyPr/>
          <a:lstStyle/>
          <a:p>
            <a:fld id="{55C6B4A9-1611-4792-9094-5F34BCA07E0B}" type="datetimeFigureOut">
              <a:rPr lang="en-US" smtClean="0"/>
              <a:t>10/18/2025</a:t>
            </a:fld>
            <a:endParaRPr lang="en-US" dirty="0"/>
          </a:p>
        </p:txBody>
      </p:sp>
      <p:sp>
        <p:nvSpPr>
          <p:cNvPr id="5" name="Footer Placeholder 4">
            <a:extLst>
              <a:ext uri="{FF2B5EF4-FFF2-40B4-BE49-F238E27FC236}">
                <a16:creationId xmlns:a16="http://schemas.microsoft.com/office/drawing/2014/main" id="{AE43F507-A0C4-CD99-A94F-1BFE71C1639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D90F1F4-8A2B-9CBE-1A31-6DFE1C742A04}"/>
              </a:ext>
            </a:extLst>
          </p:cNvPr>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3480755168"/>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2C477DE-DDF3-6D7A-70DE-4EED1465E92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3F8D15F-F87D-E804-7EFB-3EA94F9F502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9417B5-D4CA-4946-A1C7-16C372E66D2A}"/>
              </a:ext>
            </a:extLst>
          </p:cNvPr>
          <p:cNvSpPr>
            <a:spLocks noGrp="1"/>
          </p:cNvSpPr>
          <p:nvPr>
            <p:ph type="dt" sz="half" idx="10"/>
          </p:nvPr>
        </p:nvSpPr>
        <p:spPr/>
        <p:txBody>
          <a:bodyPr/>
          <a:lstStyle/>
          <a:p>
            <a:fld id="{B61BEF0D-F0BB-DE4B-95CE-6DB70DBA9567}" type="datetimeFigureOut">
              <a:rPr lang="en-US" smtClean="0"/>
              <a:pPr/>
              <a:t>10/18/2025</a:t>
            </a:fld>
            <a:endParaRPr lang="en-US" dirty="0"/>
          </a:p>
        </p:txBody>
      </p:sp>
      <p:sp>
        <p:nvSpPr>
          <p:cNvPr id="5" name="Footer Placeholder 4">
            <a:extLst>
              <a:ext uri="{FF2B5EF4-FFF2-40B4-BE49-F238E27FC236}">
                <a16:creationId xmlns:a16="http://schemas.microsoft.com/office/drawing/2014/main" id="{FCCF89EC-0362-926F-11E9-76C07BC85FA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18892C3A-6F25-04D8-5A38-92081A6369DB}"/>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01801574"/>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2104341998"/>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2198210410"/>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2755515965"/>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6872829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F45CD9C-4EE0-D9DD-0B9E-921992DDB57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2C7C935-B328-0DFD-6C8D-EBDA4A15E6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1CDBB7-C9B0-931E-8FC0-20EDAE35E58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1BEF0D-F0BB-DE4B-95CE-6DB70DBA9567}" type="datetimeFigureOut">
              <a:rPr lang="en-US" smtClean="0"/>
              <a:pPr/>
              <a:t>10/18/2025</a:t>
            </a:fld>
            <a:endParaRPr lang="en-US" dirty="0"/>
          </a:p>
        </p:txBody>
      </p:sp>
      <p:sp>
        <p:nvSpPr>
          <p:cNvPr id="5" name="Footer Placeholder 4">
            <a:extLst>
              <a:ext uri="{FF2B5EF4-FFF2-40B4-BE49-F238E27FC236}">
                <a16:creationId xmlns:a16="http://schemas.microsoft.com/office/drawing/2014/main" id="{B41B2E82-1D41-2A96-CE13-FD637FDFD7C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77D029EE-1AF7-DA8D-4C87-FB9959319C9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7F1E4F-1CFF-5643-939E-217C01CDF565}" type="slidenum">
              <a:rPr lang="en-US" smtClean="0"/>
              <a:pPr/>
              <a:t>‹#›</a:t>
            </a:fld>
            <a:endParaRPr lang="en-US" dirty="0"/>
          </a:p>
        </p:txBody>
      </p:sp>
      <p:sp>
        <p:nvSpPr>
          <p:cNvPr id="7" name="Date Placeholder 3">
            <a:extLst>
              <a:ext uri="{FF2B5EF4-FFF2-40B4-BE49-F238E27FC236}">
                <a16:creationId xmlns:a16="http://schemas.microsoft.com/office/drawing/2014/main" id="{0F7D6CC6-3D45-5641-7F8A-C938ACBA1459}"/>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10/18/2025</a:t>
            </a:fld>
            <a:endParaRPr lang="en-US" sz="1100" dirty="0">
              <a:solidFill>
                <a:schemeClr val="accent2"/>
              </a:solidFill>
            </a:endParaRPr>
          </a:p>
        </p:txBody>
      </p:sp>
      <p:sp>
        <p:nvSpPr>
          <p:cNvPr id="8" name="Footer Placeholder 4">
            <a:extLst>
              <a:ext uri="{FF2B5EF4-FFF2-40B4-BE49-F238E27FC236}">
                <a16:creationId xmlns:a16="http://schemas.microsoft.com/office/drawing/2014/main" id="{035798C1-46B8-C70E-6F41-CEF369EF6A42}"/>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9" name="Slide Number Placeholder 5">
            <a:extLst>
              <a:ext uri="{FF2B5EF4-FFF2-40B4-BE49-F238E27FC236}">
                <a16:creationId xmlns:a16="http://schemas.microsoft.com/office/drawing/2014/main" id="{EB4932A0-AF79-8BC3-3D37-43731BC7ABA1}"/>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454946227"/>
      </p:ext>
    </p:extLst>
  </p:cSld>
  <p:clrMap bg1="lt1" tx1="dk1" bg2="lt2" tx2="dk2" accent1="accent1" accent2="accent2" accent3="accent3" accent4="accent4" accent5="accent5" accent6="accent6" hlink="hlink" folHlink="folHlink"/>
  <p:sldLayoutIdLst>
    <p:sldLayoutId id="2147483819" r:id="rId1"/>
    <p:sldLayoutId id="2147483820" r:id="rId2"/>
    <p:sldLayoutId id="2147483821" r:id="rId3"/>
    <p:sldLayoutId id="2147483822" r:id="rId4"/>
    <p:sldLayoutId id="2147483823" r:id="rId5"/>
    <p:sldLayoutId id="2147483824" r:id="rId6"/>
    <p:sldLayoutId id="2147483825" r:id="rId7"/>
    <p:sldLayoutId id="2147483826" r:id="rId8"/>
    <p:sldLayoutId id="2147483827" r:id="rId9"/>
    <p:sldLayoutId id="2147483828" r:id="rId10"/>
    <p:sldLayoutId id="2147483829" r:id="rId11"/>
    <p:sldLayoutId id="2147483830" r:id="rId12"/>
    <p:sldLayoutId id="2147483831" r:id="rId13"/>
    <p:sldLayoutId id="2147483832" r:id="rId14"/>
    <p:sldLayoutId id="2147483833" r:id="rId15"/>
    <p:sldLayoutId id="2147483690" r:id="rId16"/>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3.xml"/><Relationship Id="rId4" Type="http://schemas.openxmlformats.org/officeDocument/2006/relationships/comments" Target="../comments/comment1.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4.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hyperlink" Target="abc" TargetMode="External"/><Relationship Id="rId2" Type="http://schemas.openxmlformats.org/officeDocument/2006/relationships/image" Target="../media/image1.jfif"/><Relationship Id="rId1" Type="http://schemas.openxmlformats.org/officeDocument/2006/relationships/slideLayout" Target="../slideLayouts/slideLayout13.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hyperlink" Target="abc" TargetMode="External"/><Relationship Id="rId2" Type="http://schemas.openxmlformats.org/officeDocument/2006/relationships/image" Target="../media/image1.jfif"/><Relationship Id="rId1" Type="http://schemas.openxmlformats.org/officeDocument/2006/relationships/slideLayout" Target="../slideLayouts/slideLayout13.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hyperlink" Target="abc" TargetMode="External"/><Relationship Id="rId2" Type="http://schemas.openxmlformats.org/officeDocument/2006/relationships/image" Target="../media/image1.jfif"/><Relationship Id="rId1" Type="http://schemas.openxmlformats.org/officeDocument/2006/relationships/slideLayout" Target="../slideLayouts/slideLayout13.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hyperlink" Target="abc" TargetMode="External"/><Relationship Id="rId2" Type="http://schemas.openxmlformats.org/officeDocument/2006/relationships/image" Target="../media/image1.jfif"/><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1.jfif"/><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jfif"/><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5588001" y="4141999"/>
            <a:ext cx="4124960" cy="1370791"/>
          </a:xfrm>
        </p:spPr>
        <p:txBody>
          <a:bodyPr>
            <a:normAutofit/>
          </a:bodyPr>
          <a:lstStyle/>
          <a:p>
            <a:pPr algn="r"/>
            <a:r>
              <a:rPr lang="en-US" b="0" dirty="0">
                <a:solidFill>
                  <a:schemeClr val="tx1"/>
                </a:solidFill>
              </a:rPr>
              <a:t>[AKHIL SINGH ]</a:t>
            </a:r>
          </a:p>
          <a:p>
            <a:pPr algn="r"/>
            <a:r>
              <a:rPr lang="en-US" b="0" dirty="0">
                <a:solidFill>
                  <a:schemeClr val="tx1"/>
                </a:solidFill>
              </a:rPr>
              <a:t>[</a:t>
            </a:r>
            <a:r>
              <a:rPr lang="en-US" b="0" dirty="0"/>
              <a:t>STU67e28cd4daeac1742900436</a:t>
            </a:r>
            <a:r>
              <a:rPr lang="en-US" b="0" dirty="0">
                <a:solidFill>
                  <a:schemeClr val="tx1"/>
                </a:solidFill>
              </a:rPr>
              <a:t>]</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4602541" y="2718862"/>
            <a:ext cx="5110419" cy="786591"/>
          </a:xfrm>
        </p:spPr>
        <p:txBody>
          <a:bodyPr>
            <a:noAutofit/>
          </a:bodyPr>
          <a:lstStyle/>
          <a:p>
            <a:r>
              <a:rPr lang="en-US" sz="6000" b="1" dirty="0"/>
              <a:t>Netflix Analysis</a:t>
            </a:r>
            <a:endParaRPr lang="en-IN" sz="6600" b="1"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a:normAutofit fontScale="62500" lnSpcReduction="20000"/>
          </a:bodyPr>
          <a:lstStyle/>
          <a:p>
            <a:pPr>
              <a:lnSpc>
                <a:spcPct val="150000"/>
              </a:lnSpc>
            </a:pPr>
            <a:r>
              <a:rPr lang="en-US" sz="2800" dirty="0"/>
              <a:t>Netflix has become one of the world’s largest streaming platforms, offering a wide range of movies and TV shows to millions of users worldwide. With such a massive and diverse content library, understanding what type of shows, genres, and ratings attract audiences is essential for business growth. This project aims to analyze Netflix’s dataset to identify patterns in content types, release years, countries, and ratings. By exploring these trends, the analysis helps understand Netflix’s content distribution and audience preferences over time.</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64318" y="979401"/>
            <a:ext cx="6995604" cy="790111"/>
          </a:xfrm>
        </p:spPr>
        <p:txBody>
          <a:bodyPr>
            <a:normAutofit/>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75957" y="978318"/>
            <a:ext cx="6276109" cy="45719"/>
          </a:xfrm>
        </p:spPr>
        <p:txBody>
          <a:bodyPr>
            <a:noAutofit/>
          </a:bodyPr>
          <a:lstStyle/>
          <a:p>
            <a:pPr>
              <a:lnSpc>
                <a:spcPct val="150000"/>
              </a:lnSpc>
            </a:pPr>
            <a:br>
              <a:rPr lang="en-GB" dirty="0"/>
            </a:br>
            <a:br>
              <a:rPr lang="en-GB" dirty="0"/>
            </a:br>
            <a:br>
              <a:rPr lang="en-GB" dirty="0"/>
            </a:br>
            <a:br>
              <a:rPr lang="en-GB" dirty="0"/>
            </a:br>
            <a:r>
              <a:rPr lang="en-GB" dirty="0"/>
              <a:t>Project Description</a:t>
            </a:r>
            <a:br>
              <a:rPr lang="en-GB" dirty="0"/>
            </a:br>
            <a:r>
              <a:rPr lang="en-US" sz="1700" b="0" dirty="0">
                <a:latin typeface="+mn-lt"/>
              </a:rPr>
              <a:t>The Netflix Data Analysis project focuses on exploring and understanding the patterns hidden within Netflix’s content catalog. Using Python and data visualization tools, this project analyzes different factors such as content type, release year, duration, rating, and country of origin. The goal is to uncover insights into how Netflix structures its library, which regions contribute the most content, and how trends have changed over the years. This analysis helps in understanding audience preferences, supporting data-driven decisions for future content planning and improving streaming recommendations.</a:t>
            </a:r>
            <a:endParaRPr lang="en-IN" b="0" dirty="0">
              <a:latin typeface="+mn-lt"/>
            </a:endParaRPr>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620008" y="2118360"/>
            <a:ext cx="7448974" cy="3749039"/>
          </a:xfrm>
        </p:spPr>
        <p:txBody>
          <a:bodyPr>
            <a:noAutofit/>
          </a:bodyPr>
          <a:lstStyle/>
          <a:p>
            <a:pPr marL="0" indent="0" algn="just">
              <a:lnSpc>
                <a:spcPct val="150000"/>
              </a:lnSpc>
              <a:buNone/>
            </a:pPr>
            <a:r>
              <a:rPr lang="en-US" sz="1800" dirty="0"/>
              <a:t>The end users of this project include data analysts, </a:t>
            </a:r>
            <a:r>
              <a:rPr lang="en-US" sz="1800" b="1" dirty="0"/>
              <a:t>business strategists</a:t>
            </a:r>
            <a:r>
              <a:rPr lang="en-US" sz="1800" dirty="0"/>
              <a:t>, </a:t>
            </a:r>
            <a:r>
              <a:rPr lang="en-US" sz="1800" b="1" dirty="0"/>
              <a:t>content managers</a:t>
            </a:r>
            <a:r>
              <a:rPr lang="en-US" sz="1800" dirty="0"/>
              <a:t>, and </a:t>
            </a:r>
            <a:r>
              <a:rPr lang="en-US" sz="1800" b="1" dirty="0"/>
              <a:t>marketing teams </a:t>
            </a:r>
            <a:r>
              <a:rPr lang="en-US" sz="1800" dirty="0"/>
              <a:t>working in the entertainment or streaming industry. These users can utilize the insights from the analysis to understand audience preferences, identify popular genres, and plan content acquisition or production strategies. Additionally, students and researchers in data science can benefit from this project as a practical example of exploratory data analysis (EDA) using real-world data. The insights can also help Netflix competitors improve their content distribution and recommendation strategies.</a:t>
            </a:r>
            <a:endParaRPr lang="en-IN" sz="18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721359" y="1161016"/>
            <a:ext cx="10046070" cy="802641"/>
          </a:xfrm>
        </p:spPr>
        <p:txBody>
          <a:bodyPr>
            <a:normAutofit/>
          </a:bodyPr>
          <a:lstStyle/>
          <a:p>
            <a:r>
              <a:rPr lang="en-US" sz="4000" dirty="0">
                <a:latin typeface="Calibri" panose="020F0502020204030204" pitchFamily="34" charset="0"/>
                <a:ea typeface="Calibri" panose="020F0502020204030204" pitchFamily="34" charset="0"/>
                <a:cs typeface="Calibri" panose="020F0502020204030204" pitchFamily="34" charset="0"/>
              </a:rPr>
              <a:t>WHO ARE THE END USERS?</a:t>
            </a:r>
            <a:endParaRPr lang="en-IN" sz="2800" dirty="0">
              <a:latin typeface="Calibri" panose="020F0502020204030204" pitchFamily="34" charset="0"/>
              <a:ea typeface="Calibri" panose="020F0502020204030204" pitchFamily="34" charset="0"/>
              <a:cs typeface="Calibri" panose="020F0502020204030204" pitchFamily="34" charset="0"/>
            </a:endParaRPr>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7" y="1432560"/>
            <a:ext cx="9219049" cy="5243448"/>
          </a:xfrm>
        </p:spPr>
        <p:txBody>
          <a:bodyPr/>
          <a:lstStyle/>
          <a:p>
            <a:pPr lvl="1">
              <a:lnSpc>
                <a:spcPct val="150000"/>
              </a:lnSpc>
            </a:pPr>
            <a:r>
              <a:rPr lang="en-US" dirty="0"/>
              <a:t>The project is developed using </a:t>
            </a:r>
            <a:r>
              <a:rPr lang="en-US" b="1" dirty="0"/>
              <a:t>Google </a:t>
            </a:r>
            <a:r>
              <a:rPr lang="en-US" b="1" dirty="0" err="1"/>
              <a:t>Colab</a:t>
            </a:r>
            <a:r>
              <a:rPr lang="en-US" dirty="0"/>
              <a:t> as the main environment for coding and analysis. The dataset is handled with </a:t>
            </a:r>
            <a:r>
              <a:rPr lang="en-US" b="1" dirty="0"/>
              <a:t>Python</a:t>
            </a:r>
            <a:r>
              <a:rPr lang="en-US" dirty="0"/>
              <a:t>, where libraries such as </a:t>
            </a:r>
            <a:r>
              <a:rPr lang="en-US" b="1" dirty="0"/>
              <a:t>Pandas</a:t>
            </a:r>
            <a:r>
              <a:rPr lang="en-US" dirty="0"/>
              <a:t> and </a:t>
            </a:r>
            <a:r>
              <a:rPr lang="en-US" b="1" dirty="0"/>
              <a:t>NumPy</a:t>
            </a:r>
            <a:r>
              <a:rPr lang="en-US" dirty="0"/>
              <a:t> are used for data cleaning and preparation. For data visualization and pattern discovery, tools like </a:t>
            </a:r>
            <a:r>
              <a:rPr lang="en-US" b="1" dirty="0"/>
              <a:t>Matplotlib</a:t>
            </a:r>
            <a:r>
              <a:rPr lang="en-US" dirty="0"/>
              <a:t> and </a:t>
            </a:r>
            <a:r>
              <a:rPr lang="en-US" b="1" dirty="0"/>
              <a:t>Seaborn</a:t>
            </a:r>
            <a:r>
              <a:rPr lang="en-US" dirty="0"/>
              <a:t> are applied to create charts and plots. Google </a:t>
            </a:r>
            <a:r>
              <a:rPr lang="en-US" dirty="0" err="1"/>
              <a:t>Colab</a:t>
            </a:r>
            <a:r>
              <a:rPr lang="en-US" dirty="0"/>
              <a:t> also enables easy integration with Google Drive for storing and accessing datasets. File Handling libraries for </a:t>
            </a:r>
            <a:r>
              <a:rPr lang="en-US" dirty="0" err="1"/>
              <a:t>Openpyxl</a:t>
            </a:r>
            <a:r>
              <a:rPr lang="en-US" dirty="0"/>
              <a:t> (for excel) and built in csv file handling. These technologies together provide a reliable and efficient setup for analyzing Netflix Data.</a:t>
            </a: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0" name="Text Placeholder 1">
            <a:extLst>
              <a:ext uri="{FF2B5EF4-FFF2-40B4-BE49-F238E27FC236}">
                <a16:creationId xmlns:a16="http://schemas.microsoft.com/office/drawing/2014/main" id="{B19D8AC7-3787-4ADB-9212-0808F015C2DD}"/>
              </a:ext>
            </a:extLst>
          </p:cNvPr>
          <p:cNvSpPr>
            <a:spLocks noGrp="1"/>
          </p:cNvSpPr>
          <p:nvPr>
            <p:ph type="body" sz="quarter" idx="12"/>
          </p:nvPr>
        </p:nvSpPr>
        <p:spPr>
          <a:xfrm>
            <a:off x="807164" y="1431693"/>
            <a:ext cx="4275138" cy="477520"/>
          </a:xfrm>
        </p:spPr>
        <p:txBody>
          <a:bodyPr>
            <a:normAutofit/>
          </a:bodyPr>
          <a:lstStyle/>
          <a:p>
            <a:pPr marL="0" indent="0">
              <a:buNone/>
            </a:pPr>
            <a:endParaRPr lang="en-IN" dirty="0"/>
          </a:p>
        </p:txBody>
      </p:sp>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RESULTS1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E25373E9-1A26-4A40-9897-E42DE485D8E3}"/>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ction="ppaction://hlinkfile">
                  <a:extLst>
                    <a:ext uri="{A12FA001-AC4F-418D-AE19-62706E023703}">
                      <ahyp:hlinkClr xmlns:ahyp="http://schemas.microsoft.com/office/drawing/2018/hyperlinkcolor" val="tx"/>
                    </a:ext>
                  </a:extLst>
                </a:hlinkClick>
              </a:rPr>
              <a:t>Demo Link</a:t>
            </a:r>
            <a:endParaRPr lang="en-IN" b="0" u="sng" dirty="0">
              <a:solidFill>
                <a:srgbClr val="0070C0"/>
              </a:solidFill>
            </a:endParaRPr>
          </a:p>
        </p:txBody>
      </p:sp>
      <p:pic>
        <p:nvPicPr>
          <p:cNvPr id="6" name="Picture 5">
            <a:extLst>
              <a:ext uri="{FF2B5EF4-FFF2-40B4-BE49-F238E27FC236}">
                <a16:creationId xmlns:a16="http://schemas.microsoft.com/office/drawing/2014/main" id="{AB86C8FA-F28C-03D1-FFA5-62B22B6C57FE}"/>
              </a:ext>
            </a:extLst>
          </p:cNvPr>
          <p:cNvPicPr>
            <a:picLocks noChangeAspect="1"/>
          </p:cNvPicPr>
          <p:nvPr/>
        </p:nvPicPr>
        <p:blipFill>
          <a:blip r:embed="rId4"/>
          <a:stretch>
            <a:fillRect/>
          </a:stretch>
        </p:blipFill>
        <p:spPr>
          <a:xfrm>
            <a:off x="675957" y="1275371"/>
            <a:ext cx="6519758" cy="5134309"/>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561F40-61F5-A9E4-2028-61D27EB38D0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90F1862-D4F3-D9EB-176E-2E2938531BAC}"/>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 Placeholder 2">
            <a:extLst>
              <a:ext uri="{FF2B5EF4-FFF2-40B4-BE49-F238E27FC236}">
                <a16:creationId xmlns:a16="http://schemas.microsoft.com/office/drawing/2014/main" id="{0900D884-10E7-5617-D8B3-E7C29BA52DDD}"/>
              </a:ext>
            </a:extLst>
          </p:cNvPr>
          <p:cNvSpPr>
            <a:spLocks noGrp="1"/>
          </p:cNvSpPr>
          <p:nvPr>
            <p:ph type="body" sz="quarter" idx="12"/>
          </p:nvPr>
        </p:nvSpPr>
        <p:spPr/>
        <p:txBody>
          <a:bodyPr/>
          <a:lstStyle/>
          <a:p>
            <a:endParaRPr lang="en-US" dirty="0"/>
          </a:p>
        </p:txBody>
      </p:sp>
      <p:sp>
        <p:nvSpPr>
          <p:cNvPr id="4" name="Title 3">
            <a:extLst>
              <a:ext uri="{FF2B5EF4-FFF2-40B4-BE49-F238E27FC236}">
                <a16:creationId xmlns:a16="http://schemas.microsoft.com/office/drawing/2014/main" id="{723A3B93-82D2-A57B-4898-3D9B0C72DC7D}"/>
              </a:ext>
            </a:extLst>
          </p:cNvPr>
          <p:cNvSpPr>
            <a:spLocks noGrp="1"/>
          </p:cNvSpPr>
          <p:nvPr>
            <p:ph type="title"/>
          </p:nvPr>
        </p:nvSpPr>
        <p:spPr>
          <a:xfrm>
            <a:off x="675957" y="370589"/>
            <a:ext cx="2981643" cy="830997"/>
          </a:xfrm>
        </p:spPr>
        <p:txBody>
          <a:bodyPr>
            <a:normAutofit/>
          </a:bodyPr>
          <a:lstStyle/>
          <a:p>
            <a:r>
              <a:rPr lang="en-GB" dirty="0"/>
              <a:t>RESULTS2</a:t>
            </a:r>
            <a:endParaRPr lang="en-IN" dirty="0"/>
          </a:p>
        </p:txBody>
      </p:sp>
      <p:sp>
        <p:nvSpPr>
          <p:cNvPr id="7" name="Text Placeholder 30">
            <a:extLst>
              <a:ext uri="{FF2B5EF4-FFF2-40B4-BE49-F238E27FC236}">
                <a16:creationId xmlns:a16="http://schemas.microsoft.com/office/drawing/2014/main" id="{F4C0E530-3AAB-E420-2061-2352FB4AEFB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3F5036B-907B-9AB7-BC47-C7C142E40FA7}"/>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34F0609D-325A-6CFC-7512-0C94EDABEB7B}"/>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ction="ppaction://hlinkfile">
                  <a:extLst>
                    <a:ext uri="{A12FA001-AC4F-418D-AE19-62706E023703}">
                      <ahyp:hlinkClr xmlns:ahyp="http://schemas.microsoft.com/office/drawing/2018/hyperlinkcolor" val="tx"/>
                    </a:ext>
                  </a:extLst>
                </a:hlinkClick>
              </a:rPr>
              <a:t>Demo Link</a:t>
            </a:r>
            <a:endParaRPr lang="en-IN" b="0" u="sng" dirty="0">
              <a:solidFill>
                <a:srgbClr val="0070C0"/>
              </a:solidFill>
            </a:endParaRPr>
          </a:p>
        </p:txBody>
      </p:sp>
      <p:pic>
        <p:nvPicPr>
          <p:cNvPr id="6" name="Picture 5">
            <a:extLst>
              <a:ext uri="{FF2B5EF4-FFF2-40B4-BE49-F238E27FC236}">
                <a16:creationId xmlns:a16="http://schemas.microsoft.com/office/drawing/2014/main" id="{E52964AB-115E-1BC8-D99F-2241E1B843FD}"/>
              </a:ext>
            </a:extLst>
          </p:cNvPr>
          <p:cNvPicPr>
            <a:picLocks noChangeAspect="1"/>
          </p:cNvPicPr>
          <p:nvPr/>
        </p:nvPicPr>
        <p:blipFill>
          <a:blip r:embed="rId4"/>
          <a:stretch>
            <a:fillRect/>
          </a:stretch>
        </p:blipFill>
        <p:spPr>
          <a:xfrm>
            <a:off x="549959" y="1333566"/>
            <a:ext cx="7867668" cy="5138354"/>
          </a:xfrm>
          <a:prstGeom prst="rect">
            <a:avLst/>
          </a:prstGeom>
        </p:spPr>
      </p:pic>
    </p:spTree>
    <p:extLst>
      <p:ext uri="{BB962C8B-B14F-4D97-AF65-F5344CB8AC3E}">
        <p14:creationId xmlns:p14="http://schemas.microsoft.com/office/powerpoint/2010/main" val="390853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7024A6-C6F7-0E13-B5FE-E6A5870DA15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76194CC-45AC-6391-C127-232D7FE17E83}"/>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0" name="Text Placeholder 1">
            <a:extLst>
              <a:ext uri="{FF2B5EF4-FFF2-40B4-BE49-F238E27FC236}">
                <a16:creationId xmlns:a16="http://schemas.microsoft.com/office/drawing/2014/main" id="{F6B14C4F-1746-A8AB-D262-5A993160F568}"/>
              </a:ext>
            </a:extLst>
          </p:cNvPr>
          <p:cNvSpPr>
            <a:spLocks noGrp="1"/>
          </p:cNvSpPr>
          <p:nvPr>
            <p:ph type="body" sz="quarter" idx="12"/>
          </p:nvPr>
        </p:nvSpPr>
        <p:spPr>
          <a:xfrm>
            <a:off x="807164" y="1431693"/>
            <a:ext cx="4275138" cy="477520"/>
          </a:xfrm>
        </p:spPr>
        <p:txBody>
          <a:bodyPr>
            <a:normAutofit fontScale="85000" lnSpcReduction="10000"/>
          </a:bodyPr>
          <a:lstStyle/>
          <a:p>
            <a:pPr marL="0" indent="0">
              <a:buNone/>
            </a:pPr>
            <a:r>
              <a:rPr lang="en-US" dirty="0"/>
              <a:t>[Add screen shots of your code or Chart(s) ]</a:t>
            </a:r>
            <a:endParaRPr lang="en-IN" dirty="0"/>
          </a:p>
        </p:txBody>
      </p:sp>
      <p:sp>
        <p:nvSpPr>
          <p:cNvPr id="4" name="Title 3">
            <a:extLst>
              <a:ext uri="{FF2B5EF4-FFF2-40B4-BE49-F238E27FC236}">
                <a16:creationId xmlns:a16="http://schemas.microsoft.com/office/drawing/2014/main" id="{D2560D1A-A584-25F8-1F57-468796F22888}"/>
              </a:ext>
            </a:extLst>
          </p:cNvPr>
          <p:cNvSpPr>
            <a:spLocks noGrp="1"/>
          </p:cNvSpPr>
          <p:nvPr>
            <p:ph type="title"/>
          </p:nvPr>
        </p:nvSpPr>
        <p:spPr>
          <a:xfrm>
            <a:off x="675957" y="370589"/>
            <a:ext cx="2981643" cy="830997"/>
          </a:xfrm>
        </p:spPr>
        <p:txBody>
          <a:bodyPr>
            <a:normAutofit/>
          </a:bodyPr>
          <a:lstStyle/>
          <a:p>
            <a:r>
              <a:rPr lang="en-GB" dirty="0"/>
              <a:t>RESULTS3 </a:t>
            </a:r>
            <a:endParaRPr lang="en-IN" dirty="0"/>
          </a:p>
        </p:txBody>
      </p:sp>
      <p:sp>
        <p:nvSpPr>
          <p:cNvPr id="7" name="Text Placeholder 30">
            <a:extLst>
              <a:ext uri="{FF2B5EF4-FFF2-40B4-BE49-F238E27FC236}">
                <a16:creationId xmlns:a16="http://schemas.microsoft.com/office/drawing/2014/main" id="{BBD379B3-43F5-BB42-D7EF-5C1FA28E50D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0D8247-EFB8-6C04-BBBF-310CEEF88E4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1C3286AD-B268-E75A-C390-BA89A4EE730E}"/>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ction="ppaction://hlinkfile">
                  <a:extLst>
                    <a:ext uri="{A12FA001-AC4F-418D-AE19-62706E023703}">
                      <ahyp:hlinkClr xmlns:ahyp="http://schemas.microsoft.com/office/drawing/2018/hyperlinkcolor" val="tx"/>
                    </a:ext>
                  </a:extLst>
                </a:hlinkClick>
              </a:rPr>
              <a:t>Demo Link</a:t>
            </a:r>
            <a:endParaRPr lang="en-IN" b="0" u="sng" dirty="0">
              <a:solidFill>
                <a:srgbClr val="0070C0"/>
              </a:solidFill>
            </a:endParaRPr>
          </a:p>
        </p:txBody>
      </p:sp>
      <p:pic>
        <p:nvPicPr>
          <p:cNvPr id="6" name="Picture 5">
            <a:extLst>
              <a:ext uri="{FF2B5EF4-FFF2-40B4-BE49-F238E27FC236}">
                <a16:creationId xmlns:a16="http://schemas.microsoft.com/office/drawing/2014/main" id="{83A9EA4A-2D22-20CB-884D-BD3F7D2EE01E}"/>
              </a:ext>
            </a:extLst>
          </p:cNvPr>
          <p:cNvPicPr>
            <a:picLocks noChangeAspect="1"/>
          </p:cNvPicPr>
          <p:nvPr/>
        </p:nvPicPr>
        <p:blipFill>
          <a:blip r:embed="rId4"/>
          <a:stretch>
            <a:fillRect/>
          </a:stretch>
        </p:blipFill>
        <p:spPr>
          <a:xfrm>
            <a:off x="654241" y="1194333"/>
            <a:ext cx="7382905" cy="5277587"/>
          </a:xfrm>
          <a:prstGeom prst="rect">
            <a:avLst/>
          </a:prstGeom>
        </p:spPr>
      </p:pic>
    </p:spTree>
    <p:extLst>
      <p:ext uri="{BB962C8B-B14F-4D97-AF65-F5344CB8AC3E}">
        <p14:creationId xmlns:p14="http://schemas.microsoft.com/office/powerpoint/2010/main" val="3498466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9C8D793-BE02-0C8A-76BC-63404113A0FC}"/>
              </a:ext>
            </a:extLst>
          </p:cNvPr>
          <p:cNvSpPr>
            <a:spLocks noGrp="1"/>
          </p:cNvSpPr>
          <p:nvPr>
            <p:ph type="title"/>
          </p:nvPr>
        </p:nvSpPr>
        <p:spPr>
          <a:xfrm>
            <a:off x="584200" y="211200"/>
            <a:ext cx="4275138" cy="830997"/>
          </a:xfrm>
        </p:spPr>
        <p:txBody>
          <a:bodyPr/>
          <a:lstStyle/>
          <a:p>
            <a:r>
              <a:rPr lang="en-US" dirty="0"/>
              <a:t>RESULT4</a:t>
            </a:r>
          </a:p>
        </p:txBody>
      </p:sp>
      <p:pic>
        <p:nvPicPr>
          <p:cNvPr id="6" name="Picture 5">
            <a:extLst>
              <a:ext uri="{FF2B5EF4-FFF2-40B4-BE49-F238E27FC236}">
                <a16:creationId xmlns:a16="http://schemas.microsoft.com/office/drawing/2014/main" id="{605158E3-8BF1-8350-C0CA-1734B4AF4006}"/>
              </a:ext>
            </a:extLst>
          </p:cNvPr>
          <p:cNvPicPr>
            <a:picLocks noChangeAspect="1"/>
          </p:cNvPicPr>
          <p:nvPr/>
        </p:nvPicPr>
        <p:blipFill>
          <a:blip r:embed="rId2"/>
          <a:stretch>
            <a:fillRect/>
          </a:stretch>
        </p:blipFill>
        <p:spPr>
          <a:xfrm>
            <a:off x="693696" y="982133"/>
            <a:ext cx="5431321" cy="5664667"/>
          </a:xfrm>
          <a:prstGeom prst="rect">
            <a:avLst/>
          </a:prstGeom>
        </p:spPr>
      </p:pic>
    </p:spTree>
    <p:extLst>
      <p:ext uri="{BB962C8B-B14F-4D97-AF65-F5344CB8AC3E}">
        <p14:creationId xmlns:p14="http://schemas.microsoft.com/office/powerpoint/2010/main" val="11411394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D302F3-5B15-F4B3-4FC0-05D49317B44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5314807-9A27-116F-CC98-E5EEF28F080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0" name="Text Placeholder 1">
            <a:extLst>
              <a:ext uri="{FF2B5EF4-FFF2-40B4-BE49-F238E27FC236}">
                <a16:creationId xmlns:a16="http://schemas.microsoft.com/office/drawing/2014/main" id="{8935B953-0B74-DF35-9464-45E8CB01D89D}"/>
              </a:ext>
            </a:extLst>
          </p:cNvPr>
          <p:cNvSpPr>
            <a:spLocks noGrp="1"/>
          </p:cNvSpPr>
          <p:nvPr>
            <p:ph type="body" sz="quarter" idx="12"/>
          </p:nvPr>
        </p:nvSpPr>
        <p:spPr>
          <a:xfrm>
            <a:off x="866431" y="1398941"/>
            <a:ext cx="5500502" cy="2553970"/>
          </a:xfrm>
        </p:spPr>
        <p:txBody>
          <a:bodyPr vert="horz" lIns="91440" tIns="45720" rIns="91440" bIns="45720" rtlCol="0" anchor="t">
            <a:normAutofit/>
          </a:bodyPr>
          <a:lstStyle/>
          <a:p>
            <a:pPr marL="0" indent="0">
              <a:buNone/>
            </a:pPr>
            <a:r>
              <a:rPr lang="en-US" dirty="0"/>
              <a:t>[https://github.com/akhil-singh-jee/VOIS_AICTE_OCT2025_Netflix_Analysis]</a:t>
            </a:r>
          </a:p>
          <a:p>
            <a:pPr marL="0" indent="0">
              <a:buNone/>
            </a:pPr>
            <a:r>
              <a:rPr lang="en-US" dirty="0"/>
              <a:t>  </a:t>
            </a:r>
          </a:p>
        </p:txBody>
      </p:sp>
      <p:sp>
        <p:nvSpPr>
          <p:cNvPr id="4" name="Title 3">
            <a:extLst>
              <a:ext uri="{FF2B5EF4-FFF2-40B4-BE49-F238E27FC236}">
                <a16:creationId xmlns:a16="http://schemas.microsoft.com/office/drawing/2014/main" id="{BA0845DA-C188-DB03-7162-C74DB64A3678}"/>
              </a:ext>
            </a:extLst>
          </p:cNvPr>
          <p:cNvSpPr>
            <a:spLocks noGrp="1"/>
          </p:cNvSpPr>
          <p:nvPr>
            <p:ph type="title"/>
          </p:nvPr>
        </p:nvSpPr>
        <p:spPr>
          <a:xfrm>
            <a:off x="675957" y="370589"/>
            <a:ext cx="6115368" cy="878622"/>
          </a:xfrm>
        </p:spPr>
        <p:txBody>
          <a:bodyPr>
            <a:normAutofit/>
          </a:bodyPr>
          <a:lstStyle/>
          <a:p>
            <a:r>
              <a:rPr lang="en-GB" dirty="0"/>
              <a:t>GitHub repository </a:t>
            </a:r>
          </a:p>
        </p:txBody>
      </p:sp>
      <p:sp>
        <p:nvSpPr>
          <p:cNvPr id="7" name="Text Placeholder 30">
            <a:extLst>
              <a:ext uri="{FF2B5EF4-FFF2-40B4-BE49-F238E27FC236}">
                <a16:creationId xmlns:a16="http://schemas.microsoft.com/office/drawing/2014/main" id="{9B11EDF8-3FD7-C9FE-2AA8-09208B3BEFC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4E6ED231-AB91-2C33-0439-AEAC41FE728F}"/>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ction="ppaction://hlinkfile">
                  <a:extLst>
                    <a:ext uri="{A12FA001-AC4F-418D-AE19-62706E023703}">
                      <ahyp:hlinkClr xmlns:ahyp="http://schemas.microsoft.com/office/drawing/2018/hyperlinkcolor" val="tx"/>
                    </a:ext>
                  </a:extLst>
                </a:hlinkClick>
              </a:rPr>
              <a:t>Demo Link</a:t>
            </a:r>
            <a:endParaRPr lang="en-IN" b="0" u="sng" dirty="0">
              <a:solidFill>
                <a:srgbClr val="0070C0"/>
              </a:solidFill>
            </a:endParaRPr>
          </a:p>
        </p:txBody>
      </p:sp>
    </p:spTree>
    <p:extLst>
      <p:ext uri="{BB962C8B-B14F-4D97-AF65-F5344CB8AC3E}">
        <p14:creationId xmlns:p14="http://schemas.microsoft.com/office/powerpoint/2010/main" val="15969238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0">
                                            <p:txEl>
                                              <p:pRg st="0" end="0"/>
                                            </p:txEl>
                                          </p:spTgt>
                                        </p:tgtEl>
                                        <p:attrNameLst>
                                          <p:attrName>style.visibility</p:attrName>
                                        </p:attrNameLst>
                                      </p:cBhvr>
                                      <p:to>
                                        <p:strVal val="visible"/>
                                      </p:to>
                                    </p:set>
                                    <p:animEffect transition="in" filter="fade">
                                      <p:cBhvr>
                                        <p:cTn id="21" dur="1000"/>
                                        <p:tgtEl>
                                          <p:spTgt spid="10">
                                            <p:txEl>
                                              <p:pRg st="0" end="0"/>
                                            </p:txEl>
                                          </p:spTgt>
                                        </p:tgtEl>
                                      </p:cBhvr>
                                    </p:animEffect>
                                    <p:anim calcmode="lin" valueType="num">
                                      <p:cBhvr>
                                        <p:cTn id="22"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23"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1" end="1"/>
                                            </p:txEl>
                                          </p:spTgt>
                                        </p:tgtEl>
                                        <p:attrNameLst>
                                          <p:attrName>style.visibility</p:attrName>
                                        </p:attrNameLst>
                                      </p:cBhvr>
                                      <p:to>
                                        <p:strVal val="visible"/>
                                      </p:to>
                                    </p:set>
                                    <p:animEffect transition="in" filter="fade">
                                      <p:cBhvr>
                                        <p:cTn id="28" dur="1000"/>
                                        <p:tgtEl>
                                          <p:spTgt spid="10">
                                            <p:txEl>
                                              <p:pRg st="1" end="1"/>
                                            </p:txEl>
                                          </p:spTgt>
                                        </p:tgtEl>
                                      </p:cBhvr>
                                    </p:animEffect>
                                    <p:anim calcmode="lin" valueType="num">
                                      <p:cBhvr>
                                        <p:cTn id="29"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P spid="4" grpId="0"/>
      <p:bldP spid="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63FACE-D55E-9B4A-7A75-15654F5D4FD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761536A-9E87-8208-553B-AFA23F55C6EA}"/>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0" name="Text Placeholder 1">
            <a:extLst>
              <a:ext uri="{FF2B5EF4-FFF2-40B4-BE49-F238E27FC236}">
                <a16:creationId xmlns:a16="http://schemas.microsoft.com/office/drawing/2014/main" id="{460BF899-F7CC-395F-D4B6-232771689F29}"/>
              </a:ext>
            </a:extLst>
          </p:cNvPr>
          <p:cNvSpPr>
            <a:spLocks noGrp="1"/>
          </p:cNvSpPr>
          <p:nvPr>
            <p:ph type="body" sz="quarter" idx="12"/>
          </p:nvPr>
        </p:nvSpPr>
        <p:spPr>
          <a:xfrm>
            <a:off x="833043" y="1183154"/>
            <a:ext cx="4275138" cy="477520"/>
          </a:xfrm>
        </p:spPr>
        <p:txBody>
          <a:bodyPr/>
          <a:lstStyle/>
          <a:p>
            <a:pPr marL="0" indent="0">
              <a:buNone/>
            </a:pPr>
            <a:r>
              <a:rPr lang="en-US" dirty="0"/>
              <a:t>[Paste your Certificate Here]</a:t>
            </a:r>
            <a:endParaRPr lang="en-IN" dirty="0"/>
          </a:p>
        </p:txBody>
      </p:sp>
      <p:sp>
        <p:nvSpPr>
          <p:cNvPr id="4" name="Title 3">
            <a:extLst>
              <a:ext uri="{FF2B5EF4-FFF2-40B4-BE49-F238E27FC236}">
                <a16:creationId xmlns:a16="http://schemas.microsoft.com/office/drawing/2014/main" id="{C5390BF9-A1B3-D0A5-6FE6-4C64A8B75AA9}"/>
              </a:ext>
            </a:extLst>
          </p:cNvPr>
          <p:cNvSpPr>
            <a:spLocks noGrp="1"/>
          </p:cNvSpPr>
          <p:nvPr>
            <p:ph type="title"/>
          </p:nvPr>
        </p:nvSpPr>
        <p:spPr>
          <a:xfrm>
            <a:off x="675957" y="370589"/>
            <a:ext cx="10892066" cy="904781"/>
          </a:xfrm>
        </p:spPr>
        <p:txBody>
          <a:bodyPr>
            <a:noAutofit/>
          </a:bodyPr>
          <a:lstStyle/>
          <a:p>
            <a:r>
              <a:rPr lang="en-IN" sz="3600" dirty="0"/>
              <a:t>Getting started with Basics of Python </a:t>
            </a:r>
            <a:r>
              <a:rPr lang="en-GB" sz="3600" dirty="0"/>
              <a:t>Certificate  </a:t>
            </a:r>
            <a:endParaRPr lang="en-IN" sz="3600" dirty="0"/>
          </a:p>
        </p:txBody>
      </p:sp>
      <p:sp>
        <p:nvSpPr>
          <p:cNvPr id="7" name="Text Placeholder 30">
            <a:extLst>
              <a:ext uri="{FF2B5EF4-FFF2-40B4-BE49-F238E27FC236}">
                <a16:creationId xmlns:a16="http://schemas.microsoft.com/office/drawing/2014/main" id="{C0B10ED4-748B-FD2D-3185-4AB559AC71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1BF57D1-2242-C3F4-D177-EE064D5454A4}"/>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224F0590-A6A5-687A-42A0-EC00A6C958BC}"/>
              </a:ext>
            </a:extLst>
          </p:cNvPr>
          <p:cNvPicPr>
            <a:picLocks noChangeAspect="1"/>
          </p:cNvPicPr>
          <p:nvPr/>
        </p:nvPicPr>
        <p:blipFill>
          <a:blip r:embed="rId3"/>
          <a:stretch>
            <a:fillRect/>
          </a:stretch>
        </p:blipFill>
        <p:spPr>
          <a:xfrm>
            <a:off x="833043" y="1260745"/>
            <a:ext cx="7387246" cy="5226666"/>
          </a:xfrm>
          <a:prstGeom prst="rect">
            <a:avLst/>
          </a:prstGeom>
        </p:spPr>
      </p:pic>
    </p:spTree>
    <p:extLst>
      <p:ext uri="{BB962C8B-B14F-4D97-AF65-F5344CB8AC3E}">
        <p14:creationId xmlns:p14="http://schemas.microsoft.com/office/powerpoint/2010/main" val="27106021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FCD52E-39EF-82B8-E116-6B0D9B50E1D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0214EFD-3FAC-BE9B-CFBB-2D1FCCED012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0" name="Text Placeholder 1">
            <a:extLst>
              <a:ext uri="{FF2B5EF4-FFF2-40B4-BE49-F238E27FC236}">
                <a16:creationId xmlns:a16="http://schemas.microsoft.com/office/drawing/2014/main" id="{D48169FB-B4CE-0F31-B897-737AB3A70EC0}"/>
              </a:ext>
            </a:extLst>
          </p:cNvPr>
          <p:cNvSpPr>
            <a:spLocks noGrp="1"/>
          </p:cNvSpPr>
          <p:nvPr>
            <p:ph type="body" sz="quarter" idx="12"/>
          </p:nvPr>
        </p:nvSpPr>
        <p:spPr>
          <a:xfrm>
            <a:off x="833043" y="1183154"/>
            <a:ext cx="4275138" cy="477520"/>
          </a:xfrm>
        </p:spPr>
        <p:txBody>
          <a:bodyPr/>
          <a:lstStyle/>
          <a:p>
            <a:pPr marL="0" indent="0">
              <a:buNone/>
            </a:pPr>
            <a:r>
              <a:rPr lang="en-US" dirty="0"/>
              <a:t>[Paste your Certificate Here]</a:t>
            </a:r>
            <a:endParaRPr lang="en-IN" dirty="0"/>
          </a:p>
        </p:txBody>
      </p:sp>
      <p:sp>
        <p:nvSpPr>
          <p:cNvPr id="4" name="Title 3">
            <a:extLst>
              <a:ext uri="{FF2B5EF4-FFF2-40B4-BE49-F238E27FC236}">
                <a16:creationId xmlns:a16="http://schemas.microsoft.com/office/drawing/2014/main" id="{5359B88B-4EF4-AA7A-A15C-4B2147671C19}"/>
              </a:ext>
            </a:extLst>
          </p:cNvPr>
          <p:cNvSpPr>
            <a:spLocks noGrp="1"/>
          </p:cNvSpPr>
          <p:nvPr>
            <p:ph type="title"/>
          </p:nvPr>
        </p:nvSpPr>
        <p:spPr>
          <a:xfrm>
            <a:off x="675957" y="370589"/>
            <a:ext cx="10892066" cy="904781"/>
          </a:xfrm>
        </p:spPr>
        <p:txBody>
          <a:bodyPr>
            <a:noAutofit/>
          </a:bodyPr>
          <a:lstStyle/>
          <a:p>
            <a:r>
              <a:rPr lang="en-IN" sz="3600" dirty="0"/>
              <a:t>Data Visualization </a:t>
            </a:r>
            <a:r>
              <a:rPr lang="en-GB" sz="3600" dirty="0"/>
              <a:t>Certificate  </a:t>
            </a:r>
            <a:endParaRPr lang="en-IN" sz="3600" dirty="0"/>
          </a:p>
        </p:txBody>
      </p:sp>
      <p:sp>
        <p:nvSpPr>
          <p:cNvPr id="7" name="Text Placeholder 30">
            <a:extLst>
              <a:ext uri="{FF2B5EF4-FFF2-40B4-BE49-F238E27FC236}">
                <a16:creationId xmlns:a16="http://schemas.microsoft.com/office/drawing/2014/main" id="{C23E8C61-31F1-4380-CEFB-D75448F856D7}"/>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F0577D1-D5B1-726B-4FAB-B353BDE31B12}"/>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A4D88D30-A7B2-C5C3-B3E0-21981513DE06}"/>
              </a:ext>
            </a:extLst>
          </p:cNvPr>
          <p:cNvPicPr>
            <a:picLocks noChangeAspect="1"/>
          </p:cNvPicPr>
          <p:nvPr/>
        </p:nvPicPr>
        <p:blipFill>
          <a:blip r:embed="rId3"/>
          <a:stretch>
            <a:fillRect/>
          </a:stretch>
        </p:blipFill>
        <p:spPr>
          <a:xfrm>
            <a:off x="748377" y="1183154"/>
            <a:ext cx="7669151" cy="5426121"/>
          </a:xfrm>
          <a:prstGeom prst="rect">
            <a:avLst/>
          </a:prstGeom>
        </p:spPr>
      </p:pic>
    </p:spTree>
    <p:extLst>
      <p:ext uri="{BB962C8B-B14F-4D97-AF65-F5344CB8AC3E}">
        <p14:creationId xmlns:p14="http://schemas.microsoft.com/office/powerpoint/2010/main" val="5666845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0" y="2912401"/>
            <a:ext cx="11340000" cy="700114"/>
          </a:xfrm>
          <a:prstGeom prst="rect">
            <a:avLst/>
          </a:prstGeom>
        </p:spPr>
        <p:txBody>
          <a:bodyPr anchor="ctr">
            <a:noAutofit/>
          </a:bodyPr>
          <a:lstStyle/>
          <a:p>
            <a:pPr algn="ctr"/>
            <a:r>
              <a:rPr lang="en-US" sz="66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1"/>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
  <TotalTime>621</TotalTime>
  <Words>492</Words>
  <Application>Microsoft Office PowerPoint</Application>
  <PresentationFormat>Widescreen</PresentationFormat>
  <Paragraphs>30</Paragraphs>
  <Slides>13</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Calibri Light</vt:lpstr>
      <vt:lpstr>Wingdings</vt:lpstr>
      <vt:lpstr>Office Theme</vt:lpstr>
      <vt:lpstr>Netflix Analysis</vt:lpstr>
      <vt:lpstr>PROBLEM  STATEMENT</vt:lpstr>
      <vt:lpstr>    Project Description The Netflix Data Analysis project focuses on exploring and understanding the patterns hidden within Netflix’s content catalog. Using Python and data visualization tools, this project analyzes different factors such as content type, release year, duration, rating, and country of origin. The goal is to uncover insights into how Netflix structures its library, which regions contribute the most content, and how trends have changed over the years. This analysis helps in understanding audience preferences, supporting data-driven decisions for future content planning and improving streaming recommendations.</vt:lpstr>
      <vt:lpstr>WHO ARE THE END USERS?</vt:lpstr>
      <vt:lpstr>Technology Used</vt:lpstr>
      <vt:lpstr>RESULTS1 </vt:lpstr>
      <vt:lpstr>RESULTS2</vt:lpstr>
      <vt:lpstr>RESULTS3 </vt:lpstr>
      <vt:lpstr>RESULT4</vt:lpstr>
      <vt:lpstr>GitHub repository </vt:lpstr>
      <vt:lpstr>Getting started with Basics of Python Certificate  </vt:lpstr>
      <vt:lpstr>Data Visualization Certificate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AKHIL SINGH</cp:lastModifiedBy>
  <cp:revision>112</cp:revision>
  <dcterms:created xsi:type="dcterms:W3CDTF">2021-07-11T13:13:15Z</dcterms:created>
  <dcterms:modified xsi:type="dcterms:W3CDTF">2025-10-18T14:36:15Z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